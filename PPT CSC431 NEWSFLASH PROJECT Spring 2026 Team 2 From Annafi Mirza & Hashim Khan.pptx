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Lora"/>
      <p:regular r:id="rId28"/>
      <p:bold r:id="rId29"/>
      <p:italic r:id="rId30"/>
      <p:boldItalic r:id="rId31"/>
    </p:embeddedFont>
    <p:embeddedFont>
      <p:font typeface="Merriweather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ora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or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-boldItalic.fntdata"/><Relationship Id="rId30" Type="http://schemas.openxmlformats.org/officeDocument/2006/relationships/font" Target="fonts/Lora-italic.fntdata"/><Relationship Id="rId11" Type="http://schemas.openxmlformats.org/officeDocument/2006/relationships/slide" Target="slides/slide6.xml"/><Relationship Id="rId33" Type="http://schemas.openxmlformats.org/officeDocument/2006/relationships/font" Target="fonts/Merriweather-bold.fntdata"/><Relationship Id="rId10" Type="http://schemas.openxmlformats.org/officeDocument/2006/relationships/slide" Target="slides/slide5.xml"/><Relationship Id="rId32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34" Type="http://schemas.openxmlformats.org/officeDocument/2006/relationships/font" Target="fonts/Merriweather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6ddbf4527f4433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6ddbf4527f4433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6263e2dd22c1266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6263e2dd22c1266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bc5e897b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bc5e897b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263e2dd22c1266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263e2dd22c1266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263e2dd22c1266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263e2dd22c1266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263e2dd22c1266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263e2dd22c1266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6263e2dd22c1266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6263e2dd22c1266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263e2dd22c1266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263e2dd22c1266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263e2dd22c1266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6263e2dd22c1266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6263e2dd22c12662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6263e2dd22c1266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725c531c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725c531c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bc5e897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bc5e897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bc5e897b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bc5e897b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bc5e897b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bc5e897b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725c531c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725c531c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725c531c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725c531c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88e0b153f6cd3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88e0b153f6cd3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a88e0b153f6cd38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a88e0b153f6cd38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a88e0b153f6cd38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a88e0b153f6cd38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725c531c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9725c531c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35bc9f93c3daa05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35bc9f93c3daa05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5bc9f93c3daa0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35bc9f93c3daa0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777700" y="338675"/>
            <a:ext cx="358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Annafi Mirza &amp; Hashim Khan</a:t>
            </a:r>
            <a:endParaRPr i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118000" y="1538558"/>
            <a:ext cx="4908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NewsFlash</a:t>
            </a:r>
            <a:endParaRPr b="1" sz="6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Forecasting Investment News</a:t>
            </a:r>
            <a:endParaRPr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072000" y="364067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CSC431 - Spring 2026</a:t>
            </a:r>
            <a:endParaRPr i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Dr. Hien Nguyen</a:t>
            </a:r>
            <a:endParaRPr i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Final Presentation</a:t>
            </a:r>
            <a:endParaRPr i="1" sz="2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-4" y="-1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Presenters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92650" y="848250"/>
            <a:ext cx="75717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Char char="-"/>
            </a:pPr>
            <a:r>
              <a:rPr b="1"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Annafi Mirza</a:t>
            </a:r>
            <a:endParaRPr b="1"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Lead Project Design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Computer Science, Data Science &amp; Artificial Intelligence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Char char="-"/>
            </a:pPr>
            <a:r>
              <a:rPr b="1"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Hashim Khan</a:t>
            </a:r>
            <a:endParaRPr b="1"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Lead Technical Design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Char char="-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Computer Science, Mathematics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-4" y="-1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Table of Contents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92650" y="848250"/>
            <a:ext cx="40254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Why NewsFlash?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Functional Requirements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Non-Functional Requirements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System Constraints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Evolutionary Requirements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Use Cases &amp; Diagrams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System Model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System Architecture Design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Design Patterns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Mockup Interface + Code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Conclusion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AutoNum type="arabicPeriod"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Resources &amp; QnA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5900" y="972688"/>
            <a:ext cx="3524126" cy="3198124"/>
          </a:xfrm>
          <a:prstGeom prst="rect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8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Why NewsFlash?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0" y="1175113"/>
            <a:ext cx="5334000" cy="27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ora"/>
              <a:buChar char="●"/>
            </a:pPr>
            <a:r>
              <a:rPr lang="en" sz="2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Investment news and market predictions in one place</a:t>
            </a:r>
            <a:endParaRPr sz="2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ora"/>
              <a:buChar char="●"/>
            </a:pPr>
            <a:r>
              <a:rPr lang="en" sz="2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Latest headlines and trends across the stock market</a:t>
            </a:r>
            <a:endParaRPr sz="2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ora"/>
              <a:buChar char="●"/>
            </a:pPr>
            <a:r>
              <a:rPr lang="en" sz="2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Insights by industry, commodity, or security</a:t>
            </a:r>
            <a:endParaRPr sz="2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ora"/>
              <a:buChar char="●"/>
            </a:pPr>
            <a:r>
              <a:rPr lang="en" sz="2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Prediction models for short-term market forecasting</a:t>
            </a:r>
            <a:endParaRPr sz="2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7025" y="1473301"/>
            <a:ext cx="3417475" cy="2196937"/>
          </a:xfrm>
          <a:prstGeom prst="rect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-1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Requirements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055850" y="860398"/>
            <a:ext cx="4965300" cy="3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Scrape headlines.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Rate each headline.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Compute summary stats.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Display summary stats.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Train models to predict ratings.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Predict next week’s daily ratings.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Display predictions.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05" name="Google Shape;105;p17" title="Gemini_Generated_Image_k8524lk8524lk8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36" y="1361310"/>
            <a:ext cx="3650877" cy="242088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1300950" y="156781"/>
            <a:ext cx="65421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Non-Functional Requirements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196489" y="1288297"/>
            <a:ext cx="30003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Speed 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Error Handling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Readability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Ethical Disclaimer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ora"/>
              <a:buAutoNum type="arabicPeriod"/>
            </a:pPr>
            <a:r>
              <a:rPr lang="en" sz="2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Extensibility</a:t>
            </a:r>
            <a:endParaRPr sz="24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7" name="Google Shape;117;p18" title="Gemini_Generated_Image_xkmfexxkmfexxkm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6800" y="1050545"/>
            <a:ext cx="5712077" cy="318798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-1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Constraints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94275" y="968575"/>
            <a:ext cx="4525800" cy="3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Tools / Platforms</a:t>
            </a:r>
            <a:endParaRPr b="1"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Software: Python 3.x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Database: SQLite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Web scraping: BeautifulSoup + Selenium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LLM ratings: Gemini API + OpenRouter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Prediction: scikit-learn + statsmodels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4741317" y="968575"/>
            <a:ext cx="4159200" cy="3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Deployment / Environment</a:t>
            </a:r>
            <a:endParaRPr b="1"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Internet connection 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Distributed via GitHub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Database capped at ~1GB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Memory capped at 4GB RAM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0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-1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Evolutionary Requirements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225926" y="951750"/>
            <a:ext cx="53622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Future Functional</a:t>
            </a:r>
            <a:endParaRPr b="1"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Multiple </a:t>
            </a: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ratings per headline.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Personalized dashboards.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More company metric</a:t>
            </a: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s.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Web-based interface.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Prediction modeling in the cloud. 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Future Non-Functional</a:t>
            </a:r>
            <a:endParaRPr b="1"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Improved speed, accuracy, &amp; memory through better tuning/model selection.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41" name="Google Shape;141;p20" title="Gemini_Generated_Image_424esh424esh424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0825" y="1670900"/>
            <a:ext cx="3228375" cy="1801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Use Cases &amp; Diagrams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5875" y="868525"/>
            <a:ext cx="6132250" cy="40201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2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8" y="-8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1453650" y="165900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Model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5225" y="910575"/>
            <a:ext cx="5813550" cy="3812775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3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 Design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74" name="Google Shape;174;p23" title="Gemini_Generated_Image_7ol3qd7ol3qd7ol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2650" y="895906"/>
            <a:ext cx="6778701" cy="369719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4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Class Diagram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6150" y="868525"/>
            <a:ext cx="6887374" cy="404617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86" name="Google Shape;186;p24"/>
          <p:cNvSpPr txBox="1"/>
          <p:nvPr/>
        </p:nvSpPr>
        <p:spPr>
          <a:xfrm>
            <a:off x="101250" y="1320150"/>
            <a:ext cx="188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NOTE: </a:t>
            </a: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arrows signify communication, NOT </a:t>
            </a: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inheritance</a:t>
            </a: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5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Sequence Diagrams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6325" y="868525"/>
            <a:ext cx="3731350" cy="4127112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6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Sequence Diagrams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08" name="Google Shape;2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3912" y="868525"/>
            <a:ext cx="3696175" cy="4089625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7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Patterns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7" name="Google Shape;2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19" name="Google Shape;219;p27" title="Gemini_Generated_Image_4jq1xg4jq1xg4jq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1787" y="824172"/>
            <a:ext cx="6960425" cy="379630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8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Mockup Interface</a:t>
            </a:r>
            <a:endParaRPr b="1" sz="30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8" name="Google Shape;22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88" y="1492161"/>
            <a:ext cx="4304014" cy="2869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1" name="Google Shape;23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7125" y="1492145"/>
            <a:ext cx="4304026" cy="28693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28"/>
          <p:cNvSpPr txBox="1"/>
          <p:nvPr/>
        </p:nvSpPr>
        <p:spPr>
          <a:xfrm>
            <a:off x="1324350" y="889938"/>
            <a:ext cx="64953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Examples of how our software’s GUIs can look like: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9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Mockup Interface - Code</a:t>
            </a:r>
            <a:endParaRPr b="1" sz="30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43" name="Google Shape;24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6262" y="868525"/>
            <a:ext cx="4671474" cy="38164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29"/>
          <p:cNvSpPr txBox="1"/>
          <p:nvPr/>
        </p:nvSpPr>
        <p:spPr>
          <a:xfrm>
            <a:off x="182875" y="1712923"/>
            <a:ext cx="18609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Scraping News Headlines</a:t>
            </a: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: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0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Mockup Interface - Code</a:t>
            </a:r>
            <a:endParaRPr b="1" sz="30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1" name="Google Shape;251;p30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3" name="Google Shape;25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3650" y="868535"/>
            <a:ext cx="6236699" cy="380808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p30"/>
          <p:cNvSpPr txBox="1"/>
          <p:nvPr/>
        </p:nvSpPr>
        <p:spPr>
          <a:xfrm>
            <a:off x="1" y="1676336"/>
            <a:ext cx="1540500" cy="15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Storing Headlines Into Database: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1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1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Mockup Interface - Code</a:t>
            </a:r>
            <a:endParaRPr b="1" sz="30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5" name="Google Shape;26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67" name="Google Shape;26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900" y="1292500"/>
            <a:ext cx="8094601" cy="31762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8" name="Google Shape;268;p31"/>
          <p:cNvSpPr txBox="1"/>
          <p:nvPr/>
        </p:nvSpPr>
        <p:spPr>
          <a:xfrm>
            <a:off x="1676093" y="785721"/>
            <a:ext cx="57918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Training &amp; Predicting w/ ARIMA Model: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2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2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5" name="Google Shape;275;p32"/>
          <p:cNvSpPr txBox="1"/>
          <p:nvPr/>
        </p:nvSpPr>
        <p:spPr>
          <a:xfrm>
            <a:off x="140075" y="1246650"/>
            <a:ext cx="4664700" cy="26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Understand news-driven market conditions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Explore insights across industries and assets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Forecast short-term trends with prediction models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ora"/>
              <a:buChar char="●"/>
            </a:pPr>
            <a:r>
              <a:rPr lang="en" sz="2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Extend to personalization and richer data sources</a:t>
            </a:r>
            <a:endParaRPr sz="2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8" name="Google Shape;27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80" name="Google Shape;28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1625" y="972688"/>
            <a:ext cx="3524126" cy="3198124"/>
          </a:xfrm>
          <a:prstGeom prst="rect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3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Resources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140075" y="905800"/>
            <a:ext cx="8881200" cy="3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-"/>
            </a:pP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Google CoLab: </a:t>
            </a: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https://colab.research.google.com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-"/>
            </a:pP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SQLite Guide: </a:t>
            </a: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https://sqlite.org/docs.html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ora"/>
              <a:buChar char="-"/>
            </a:pPr>
            <a:r>
              <a:rPr b="1"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Sequence Diagram Constructor: </a:t>
            </a:r>
            <a:r>
              <a:rPr lang="en" sz="16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https://sequencediagram.org</a:t>
            </a:r>
            <a:endParaRPr sz="16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8" name="Google Shape;288;p33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9" name="Google Shape;289;p33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0" name="Google Shape;29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4"/>
          <p:cNvPicPr preferRelativeResize="0"/>
          <p:nvPr/>
        </p:nvPicPr>
        <p:blipFill rotWithShape="1">
          <a:blip r:embed="rId3">
            <a:alphaModFix/>
          </a:blip>
          <a:srcRect b="0" l="4346" r="4346" t="0"/>
          <a:stretch/>
        </p:blipFill>
        <p:spPr>
          <a:xfrm>
            <a:off x="0" y="0"/>
            <a:ext cx="9144003" cy="514414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4"/>
          <p:cNvSpPr txBox="1"/>
          <p:nvPr/>
        </p:nvSpPr>
        <p:spPr>
          <a:xfrm>
            <a:off x="1453650" y="165925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QnA</a:t>
            </a:r>
            <a:endParaRPr b="1" sz="32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3196800" y="4620481"/>
            <a:ext cx="275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Annafi Mirza &amp; Hashim Khan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9" name="Google Shape;299;p34"/>
          <p:cNvSpPr txBox="1"/>
          <p:nvPr/>
        </p:nvSpPr>
        <p:spPr>
          <a:xfrm>
            <a:off x="0" y="4620475"/>
            <a:ext cx="1044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NewsFlash</a:t>
            </a:r>
            <a:endParaRPr i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0" name="Google Shape;30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‹#›</a:t>
            </a:fld>
            <a:endParaRPr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1453650" y="1869150"/>
            <a:ext cx="6236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Any Questions?</a:t>
            </a:r>
            <a:endParaRPr sz="4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